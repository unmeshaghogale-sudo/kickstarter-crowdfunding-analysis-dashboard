
<file path=[Content_Types].xml><?xml version="1.0" encoding="utf-8"?>
<Types xmlns="http://schemas.openxmlformats.org/package/2006/content-types">
  <Default Extension="1" ContentType="image/jpeg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63" r:id="rId20"/>
    <p:sldId id="264" r:id="rId21"/>
    <p:sldId id="265" r:id="rId22"/>
    <p:sldId id="267" r:id="rId23"/>
  </p:sldIdLst>
  <p:sldSz cx="9144000" cy="5143500" type="screen16x9"/>
  <p:notesSz cx="5143500" cy="9144000"/>
  <p:embeddedFontLst>
    <p:embeddedFont>
      <p:font typeface="Merriweather" panose="00000500000000000000" pitchFamily="2" charset="0"/>
      <p:regular r:id="rId25"/>
      <p:bold r:id="rId26"/>
      <p:italic r:id="rId27"/>
      <p:boldItalic r:id="rId28"/>
    </p:embeddedFont>
    <p:embeddedFont>
      <p:font typeface="Nunito Light" pitchFamily="2" charset="0"/>
      <p:regular r:id="rId29"/>
      <p:italic r:id="rId30"/>
    </p:embeddedFont>
    <p:embeddedFont>
      <p:font typeface="Nunito SemiBold" charset="0"/>
      <p:regular r:id="rId31"/>
    </p:embeddedFont>
    <p:embeddedFont>
      <p:font typeface="PT Sans" panose="020B0503020203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shay\Downloads\Excel_2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shay\Downloads\Excel_2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shay\Downloads\Excel_2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shay\Downloads\Excel_2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shay\Downloads\Excel_2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shay\Downloads\Excel_2%20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shay\Downloads\Excel_2%20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en-US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Numbers of ProjectOutcome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7627748941281807"/>
          <c:y val="1.0273372833238486E-2"/>
        </c:manualLayout>
      </c:layout>
      <c:overlay val="0"/>
      <c:spPr>
        <a:solidFill>
          <a:schemeClr val="bg1">
            <a:lumMod val="6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FF00"/>
          </a:solidFill>
          <a:ln>
            <a:noFill/>
          </a:ln>
          <a:effectLst/>
        </c:spPr>
      </c:pivotFmt>
      <c:pivotFmt>
        <c:idx val="2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-0.14844112575716048"/>
              <c:y val="6.02328539861835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FFFF00"/>
          </a:solidFill>
          <a:ln>
            <a:noFill/>
          </a:ln>
          <a:effectLst/>
        </c:spPr>
      </c:pivotFmt>
      <c:pivotFmt>
        <c:idx val="9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-0.14844112575716048"/>
              <c:y val="6.02328539861835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FFFF00"/>
          </a:solidFill>
          <a:ln>
            <a:noFill/>
          </a:ln>
          <a:effectLst/>
        </c:spPr>
      </c:pivotFmt>
      <c:pivotFmt>
        <c:idx val="16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-0.14844112575716048"/>
              <c:y val="6.02328539861835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9881263857389736"/>
          <c:y val="0.14979355166704453"/>
          <c:w val="0.59500664477585208"/>
          <c:h val="0.84998880734674842"/>
        </c:manualLayout>
      </c:layout>
      <c:pieChart>
        <c:varyColors val="1"/>
        <c:ser>
          <c:idx val="0"/>
          <c:order val="0"/>
          <c:tx>
            <c:v>Total</c:v>
          </c:tx>
          <c:dPt>
            <c:idx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345-476B-94B8-C3D56652F48C}"/>
              </c:ext>
            </c:extLst>
          </c:dPt>
          <c:dPt>
            <c:idx val="1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345-476B-94B8-C3D56652F48C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345-476B-94B8-C3D56652F48C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345-476B-94B8-C3D56652F48C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345-476B-94B8-C3D56652F48C}"/>
              </c:ext>
            </c:extLst>
          </c:dPt>
          <c:dPt>
            <c:idx val="5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345-476B-94B8-C3D56652F48C}"/>
              </c:ext>
            </c:extLst>
          </c:dPt>
          <c:dLbls>
            <c:dLbl>
              <c:idx val="5"/>
              <c:layout>
                <c:manualLayout>
                  <c:x val="-0.14844112575716048"/>
                  <c:y val="6.0232853986183506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345-476B-94B8-C3D56652F4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6"/>
              <c:pt idx="0">
                <c:v>canceled</c:v>
              </c:pt>
              <c:pt idx="1">
                <c:v>failed</c:v>
              </c:pt>
              <c:pt idx="2">
                <c:v>live</c:v>
              </c:pt>
              <c:pt idx="3">
                <c:v>purged</c:v>
              </c:pt>
              <c:pt idx="4">
                <c:v>successful</c:v>
              </c:pt>
              <c:pt idx="5">
                <c:v>suspended</c:v>
              </c:pt>
            </c:strLit>
          </c:cat>
          <c:val>
            <c:numLit>
              <c:formatCode>General</c:formatCode>
              <c:ptCount val="6"/>
              <c:pt idx="0">
                <c:v>33085523723335</c:v>
              </c:pt>
              <c:pt idx="1">
                <c:v>191479229266355</c:v>
              </c:pt>
              <c:pt idx="2">
                <c:v>3389424607985</c:v>
              </c:pt>
              <c:pt idx="3">
                <c:v>190354173915</c:v>
              </c:pt>
              <c:pt idx="4">
                <c:v>143909171566903</c:v>
              </c:pt>
              <c:pt idx="5">
                <c:v>1566376529888</c:v>
              </c:pt>
            </c:numLit>
          </c:val>
          <c:extLst>
            <c:ext xmlns:c16="http://schemas.microsoft.com/office/drawing/2014/chart" uri="{C3380CC4-5D6E-409C-BE32-E72D297353CC}">
              <c16:uniqueId val="{0000000C-0345-476B-94B8-C3D56652F48C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rgbClr val="C5A1BD">
            <a:shade val="30000"/>
            <a:satMod val="115000"/>
          </a:srgbClr>
        </a:gs>
        <a:gs pos="50000">
          <a:srgbClr val="C5A1BD">
            <a:shade val="67500"/>
            <a:satMod val="115000"/>
          </a:srgbClr>
        </a:gs>
        <a:gs pos="100000">
          <a:srgbClr val="C5A1BD">
            <a:shade val="100000"/>
            <a:satMod val="115000"/>
          </a:srgbClr>
        </a:gs>
      </a:gsLst>
      <a:lin ang="5400000" scaled="1"/>
      <a:tileRect/>
    </a:gradFill>
    <a:ln w="19050" cap="flat" cmpd="sng" algn="ctr">
      <a:solidFill>
        <a:srgbClr val="B59ACC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/>
              <a:t>Total No. of Projects Based on Countries</a:t>
            </a:r>
          </a:p>
        </c:rich>
      </c:tx>
      <c:layout>
        <c:manualLayout>
          <c:xMode val="edge"/>
          <c:yMode val="edge"/>
          <c:x val="0.1169945173938388"/>
          <c:y val="0"/>
        </c:manualLayout>
      </c:layout>
      <c:overlay val="0"/>
      <c:spPr>
        <a:solidFill>
          <a:schemeClr val="bg1">
            <a:lumMod val="6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737230536489671"/>
          <c:y val="0.15947277310056701"/>
          <c:w val="0.77809569853117089"/>
          <c:h val="0.75731898344892579"/>
        </c:manualLayout>
      </c:layout>
      <c:barChart>
        <c:barDir val="bar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55134D"/>
            </a:solidFill>
            <a:ln>
              <a:noFill/>
            </a:ln>
            <a:effectLst/>
          </c:spPr>
          <c:invertIfNegative val="0"/>
          <c:cat>
            <c:strLit>
              <c:ptCount val="10"/>
              <c:pt idx="0">
                <c:v>MX</c:v>
              </c:pt>
              <c:pt idx="1">
                <c:v>ES</c:v>
              </c:pt>
              <c:pt idx="2">
                <c:v>NL</c:v>
              </c:pt>
              <c:pt idx="3">
                <c:v>IT</c:v>
              </c:pt>
              <c:pt idx="4">
                <c:v>FR</c:v>
              </c:pt>
              <c:pt idx="5">
                <c:v>DE</c:v>
              </c:pt>
              <c:pt idx="6">
                <c:v>AU</c:v>
              </c:pt>
              <c:pt idx="7">
                <c:v>CA</c:v>
              </c:pt>
              <c:pt idx="8">
                <c:v>GB</c:v>
              </c:pt>
              <c:pt idx="9">
                <c:v>US</c:v>
              </c:pt>
            </c:strLit>
          </c:cat>
          <c:val>
            <c:numLit>
              <c:formatCode>General</c:formatCode>
              <c:ptCount val="10"/>
              <c:pt idx="0">
                <c:v>2676</c:v>
              </c:pt>
              <c:pt idx="1">
                <c:v>2733</c:v>
              </c:pt>
              <c:pt idx="2">
                <c:v>2834</c:v>
              </c:pt>
              <c:pt idx="3">
                <c:v>3373</c:v>
              </c:pt>
              <c:pt idx="4">
                <c:v>3532</c:v>
              </c:pt>
              <c:pt idx="5">
                <c:v>4712</c:v>
              </c:pt>
              <c:pt idx="6">
                <c:v>7754</c:v>
              </c:pt>
              <c:pt idx="7">
                <c:v>14770</c:v>
              </c:pt>
              <c:pt idx="8">
                <c:v>34073</c:v>
              </c:pt>
              <c:pt idx="9">
                <c:v>278500</c:v>
              </c:pt>
            </c:numLit>
          </c:val>
          <c:extLst>
            <c:ext xmlns:c16="http://schemas.microsoft.com/office/drawing/2014/chart" uri="{C3380CC4-5D6E-409C-BE32-E72D297353CC}">
              <c16:uniqueId val="{00000000-0BDE-400A-946E-A5C23BEFE4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090927984"/>
        <c:axId val="2090946224"/>
      </c:barChart>
      <c:catAx>
        <c:axId val="209092798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0946224"/>
        <c:crosses val="autoZero"/>
        <c:auto val="1"/>
        <c:lblAlgn val="ctr"/>
        <c:lblOffset val="100"/>
        <c:noMultiLvlLbl val="0"/>
        <c:extLst/>
      </c:catAx>
      <c:valAx>
        <c:axId val="209094622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0927984"/>
        <c:crosses val="autoZero"/>
        <c:crossBetween val="between"/>
        <c:extLst/>
      </c:valAx>
      <c:spPr>
        <a:solidFill>
          <a:srgbClr val="C5A1BD"/>
        </a:solidFill>
        <a:ln>
          <a:noFill/>
        </a:ln>
        <a:effectLst/>
      </c:spPr>
    </c:plotArea>
    <c:plotVisOnly val="1"/>
    <c:dispBlanksAs val="gap"/>
    <c:showDLblsOverMax val="0"/>
    <c:extLst/>
  </c:chart>
  <c:spPr>
    <a:gradFill flip="none" rotWithShape="1">
      <a:gsLst>
        <a:gs pos="0">
          <a:srgbClr val="C5A1BD">
            <a:shade val="30000"/>
            <a:satMod val="115000"/>
          </a:srgbClr>
        </a:gs>
        <a:gs pos="50000">
          <a:srgbClr val="C5A1BD">
            <a:shade val="67500"/>
            <a:satMod val="115000"/>
          </a:srgbClr>
        </a:gs>
        <a:gs pos="100000">
          <a:srgbClr val="C5A1BD">
            <a:shade val="100000"/>
            <a:satMod val="115000"/>
          </a:srgbClr>
        </a:gs>
      </a:gsLst>
      <a:lin ang="5400000" scaled="1"/>
      <a:tileRect/>
    </a:gradFill>
    <a:ln w="19050" cap="flat" cmpd="sng" algn="ctr">
      <a:solidFill>
        <a:srgbClr val="6600CC"/>
      </a:solidFill>
      <a:prstDash val="solid"/>
      <a:round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200">
                <a:solidFill>
                  <a:schemeClr val="tx1"/>
                </a:solidFill>
              </a:rPr>
              <a:t>Total No. of Projects Based on Category</a:t>
            </a:r>
          </a:p>
          <a:p>
            <a:pPr algn="ctr" rtl="0">
              <a:defRPr sz="1200">
                <a:solidFill>
                  <a:schemeClr val="tx1"/>
                </a:solidFill>
              </a:defRPr>
            </a:pPr>
            <a:endParaRPr lang="en-US" sz="120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12211289030159621"/>
          <c:y val="0"/>
        </c:manualLayout>
      </c:layout>
      <c:overlay val="0"/>
      <c:spPr>
        <a:solidFill>
          <a:schemeClr val="bg1">
            <a:lumMod val="6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66003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66003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6003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66003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0"/>
              <c:pt idx="0">
                <c:v>Art</c:v>
              </c:pt>
              <c:pt idx="1">
                <c:v>Fiction</c:v>
              </c:pt>
              <c:pt idx="2">
                <c:v>Film &amp; Video</c:v>
              </c:pt>
              <c:pt idx="3">
                <c:v>Food</c:v>
              </c:pt>
              <c:pt idx="4">
                <c:v>Shorts</c:v>
              </c:pt>
              <c:pt idx="5">
                <c:v>Video Games</c:v>
              </c:pt>
              <c:pt idx="6">
                <c:v>Documentary</c:v>
              </c:pt>
              <c:pt idx="7">
                <c:v>Music</c:v>
              </c:pt>
              <c:pt idx="8">
                <c:v>Tabletop Games</c:v>
              </c:pt>
              <c:pt idx="9">
                <c:v>Product Design</c:v>
              </c:pt>
            </c:strLit>
          </c:cat>
          <c:val>
            <c:numLit>
              <c:formatCode>General</c:formatCode>
              <c:ptCount val="10"/>
              <c:pt idx="0">
                <c:v>7925</c:v>
              </c:pt>
              <c:pt idx="1">
                <c:v>8304</c:v>
              </c:pt>
              <c:pt idx="2">
                <c:v>9323</c:v>
              </c:pt>
              <c:pt idx="3">
                <c:v>9761</c:v>
              </c:pt>
              <c:pt idx="4">
                <c:v>10957</c:v>
              </c:pt>
              <c:pt idx="5">
                <c:v>11284</c:v>
              </c:pt>
              <c:pt idx="6">
                <c:v>14075</c:v>
              </c:pt>
              <c:pt idx="7">
                <c:v>15191</c:v>
              </c:pt>
              <c:pt idx="8">
                <c:v>15618</c:v>
              </c:pt>
              <c:pt idx="9">
                <c:v>22273</c:v>
              </c:pt>
            </c:numLit>
          </c:val>
          <c:extLst>
            <c:ext xmlns:c16="http://schemas.microsoft.com/office/drawing/2014/chart" uri="{C3380CC4-5D6E-409C-BE32-E72D297353CC}">
              <c16:uniqueId val="{00000000-E621-4E57-955B-81AA1462B1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090986544"/>
        <c:axId val="2091003824"/>
      </c:barChart>
      <c:catAx>
        <c:axId val="209098654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1003824"/>
        <c:crosses val="autoZero"/>
        <c:auto val="1"/>
        <c:lblAlgn val="ctr"/>
        <c:lblOffset val="100"/>
        <c:noMultiLvlLbl val="0"/>
        <c:extLst/>
      </c:catAx>
      <c:valAx>
        <c:axId val="209100382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0986544"/>
        <c:crosses val="autoZero"/>
        <c:crossBetween val="between"/>
        <c:extLst/>
      </c:valAx>
      <c:spPr>
        <a:solidFill>
          <a:srgbClr val="C5A1BD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rgbClr val="C5A1BD">
            <a:shade val="30000"/>
            <a:satMod val="115000"/>
          </a:srgbClr>
        </a:gs>
        <a:gs pos="50000">
          <a:srgbClr val="C5A1BD">
            <a:shade val="67500"/>
            <a:satMod val="115000"/>
          </a:srgbClr>
        </a:gs>
        <a:gs pos="100000">
          <a:srgbClr val="C5A1BD">
            <a:shade val="100000"/>
            <a:satMod val="115000"/>
          </a:srgbClr>
        </a:gs>
      </a:gsLst>
      <a:lin ang="10800000" scaled="1"/>
      <a:tileRect/>
    </a:gradFill>
    <a:ln w="28575" cap="flat" cmpd="sng" algn="ctr">
      <a:solidFill>
        <a:sysClr val="windowText" lastClr="000000"/>
      </a:solidFill>
      <a:round/>
    </a:ln>
    <a:effectLst/>
  </c:spPr>
  <c:txPr>
    <a:bodyPr/>
    <a:lstStyle/>
    <a:p>
      <a:pPr>
        <a:defRPr sz="900" b="1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 Successful Projects based on Goal Range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 b="1">
                <a:solidFill>
                  <a:schemeClr val="tx1"/>
                </a:solidFill>
              </a:defRPr>
            </a:pPr>
            <a:endParaRPr lang="en-US"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c:rich>
      </c:tx>
      <c:layout>
        <c:manualLayout>
          <c:xMode val="edge"/>
          <c:yMode val="edge"/>
          <c:x val="9.8721947742840932E-2"/>
          <c:y val="2.09564735977864E-2"/>
        </c:manualLayout>
      </c:layout>
      <c:overlay val="0"/>
      <c:spPr>
        <a:solidFill>
          <a:schemeClr val="bg1">
            <a:lumMod val="6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en-US"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>
              <a:tint val="54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accent2">
              <a:tint val="77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rgbClr val="6600CC"/>
          </a:solidFill>
          <a:ln>
            <a:solidFill>
              <a:srgbClr val="55134D"/>
            </a:solidFill>
          </a:ln>
          <a:effectLst/>
        </c:spPr>
      </c:pivotFmt>
      <c:pivotFmt>
        <c:idx val="5"/>
        <c:spPr>
          <a:solidFill>
            <a:schemeClr val="accent2">
              <a:shade val="53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>
              <a:tint val="54000"/>
            </a:schemeClr>
          </a:solidFill>
          <a:ln>
            <a:noFill/>
          </a:ln>
          <a:effectLst/>
        </c:spPr>
      </c:pivotFmt>
      <c:pivotFmt>
        <c:idx val="8"/>
        <c:spPr>
          <a:solidFill>
            <a:schemeClr val="accent2">
              <a:tint val="77000"/>
            </a:schemeClr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rgbClr val="6600CC"/>
          </a:solidFill>
          <a:ln>
            <a:solidFill>
              <a:srgbClr val="55134D"/>
            </a:solidFill>
          </a:ln>
          <a:effectLst/>
        </c:spPr>
      </c:pivotFmt>
      <c:pivotFmt>
        <c:idx val="11"/>
        <c:spPr>
          <a:solidFill>
            <a:schemeClr val="accent2">
              <a:shade val="53000"/>
            </a:schemeClr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>
              <a:tint val="54000"/>
            </a:schemeClr>
          </a:solidFill>
          <a:ln>
            <a:noFill/>
          </a:ln>
          <a:effectLst/>
        </c:spPr>
      </c:pivotFmt>
      <c:pivotFmt>
        <c:idx val="14"/>
        <c:spPr>
          <a:solidFill>
            <a:schemeClr val="accent2">
              <a:tint val="77000"/>
            </a:schemeClr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rgbClr val="6600CC"/>
          </a:solidFill>
          <a:ln>
            <a:solidFill>
              <a:srgbClr val="55134D"/>
            </a:solidFill>
          </a:ln>
          <a:effectLst/>
        </c:spPr>
      </c:pivotFmt>
      <c:pivotFmt>
        <c:idx val="17"/>
        <c:spPr>
          <a:solidFill>
            <a:schemeClr val="accent2">
              <a:shade val="53000"/>
            </a:schemeClr>
          </a:solidFill>
          <a:ln>
            <a:noFill/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v>Total</c:v>
          </c:tx>
          <c:dPt>
            <c:idx val="0"/>
            <c:bubble3D val="0"/>
            <c:spPr>
              <a:solidFill>
                <a:schemeClr val="accent2">
                  <a:tint val="54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2C-466F-B9F2-E985A88965B9}"/>
              </c:ext>
            </c:extLst>
          </c:dPt>
          <c:dPt>
            <c:idx val="1"/>
            <c:bubble3D val="0"/>
            <c:spPr>
              <a:solidFill>
                <a:schemeClr val="accent2">
                  <a:tint val="7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2C-466F-B9F2-E985A88965B9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2C-466F-B9F2-E985A88965B9}"/>
              </c:ext>
            </c:extLst>
          </c:dPt>
          <c:dPt>
            <c:idx val="3"/>
            <c:bubble3D val="0"/>
            <c:spPr>
              <a:solidFill>
                <a:srgbClr val="6600CC"/>
              </a:solidFill>
              <a:ln>
                <a:solidFill>
                  <a:srgbClr val="55134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42C-466F-B9F2-E985A88965B9}"/>
              </c:ext>
            </c:extLst>
          </c:dPt>
          <c:dPt>
            <c:idx val="4"/>
            <c:bubble3D val="0"/>
            <c:spPr>
              <a:solidFill>
                <a:schemeClr val="accent2">
                  <a:shade val="5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2C-466F-B9F2-E985A88965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5"/>
              <c:pt idx="0">
                <c:v>$20001 - $50000</c:v>
              </c:pt>
              <c:pt idx="1">
                <c:v>$50001 - $100000</c:v>
              </c:pt>
              <c:pt idx="2">
                <c:v>$5001 - $20000</c:v>
              </c:pt>
              <c:pt idx="3">
                <c:v>&lt; $5000</c:v>
              </c:pt>
              <c:pt idx="4">
                <c:v>&gt; $100000</c:v>
              </c:pt>
            </c:strLit>
          </c:cat>
          <c:val>
            <c:numLit>
              <c:formatCode>General</c:formatCode>
              <c:ptCount val="5"/>
              <c:pt idx="0">
                <c:v>42903</c:v>
              </c:pt>
              <c:pt idx="1">
                <c:v>15018</c:v>
              </c:pt>
              <c:pt idx="2">
                <c:v>110172</c:v>
              </c:pt>
              <c:pt idx="3">
                <c:v>186064</c:v>
              </c:pt>
              <c:pt idx="4">
                <c:v>11689</c:v>
              </c:pt>
            </c:numLit>
          </c:val>
          <c:extLst>
            <c:ext xmlns:c16="http://schemas.microsoft.com/office/drawing/2014/chart" uri="{C3380CC4-5D6E-409C-BE32-E72D297353CC}">
              <c16:uniqueId val="{0000000A-D42C-466F-B9F2-E985A88965B9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rgbClr val="C5A1BD">
            <a:shade val="30000"/>
            <a:satMod val="115000"/>
          </a:srgbClr>
        </a:gs>
        <a:gs pos="50000">
          <a:srgbClr val="C5A1BD">
            <a:shade val="67500"/>
            <a:satMod val="115000"/>
          </a:srgbClr>
        </a:gs>
        <a:gs pos="100000">
          <a:srgbClr val="C5A1BD">
            <a:shade val="100000"/>
            <a:satMod val="115000"/>
          </a:srgbClr>
        </a:gs>
      </a:gsLst>
      <a:lin ang="10800000" scaled="1"/>
      <a:tileRect/>
    </a:gradFill>
    <a:ln w="19050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Successful Projects based on  Backers Count</a:t>
            </a:r>
          </a:p>
          <a:p>
            <a:pPr algn="ctr" rtl="0">
              <a:defRPr/>
            </a:pPr>
            <a:endParaRPr lang="en-US"/>
          </a:p>
        </c:rich>
      </c:tx>
      <c:overlay val="0"/>
      <c:spPr>
        <a:solidFill>
          <a:schemeClr val="bg1">
            <a:lumMod val="6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7337652782995331E-2"/>
          <c:y val="0.1483193545980625"/>
          <c:w val="0.93168501467568965"/>
          <c:h val="0.43215518988105761"/>
        </c:manualLayout>
      </c:layout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55134D"/>
            </a:solidFill>
            <a:ln>
              <a:noFill/>
            </a:ln>
            <a:effectLst/>
          </c:spPr>
          <c:invertIfNegative val="0"/>
          <c:cat>
            <c:strLit>
              <c:ptCount val="10"/>
              <c:pt idx="0">
                <c:v>Peace</c:v>
              </c:pt>
              <c:pt idx="1">
                <c:v>Bring back Pontiac</c:v>
              </c:pt>
              <c:pt idx="2">
                <c:v>Hydroponic's Skyscraper(un gratte-ciel hydroponique)e-solar</c:v>
              </c:pt>
              <c:pt idx="3">
                <c:v>Animal - The Bear Life Journey</c:v>
              </c:pt>
              <c:pt idx="4">
                <c:v>Art Is Fabulous</c:v>
              </c:pt>
              <c:pt idx="5">
                <c:v>Help me start a fair media company, Trump Media</c:v>
              </c:pt>
              <c:pt idx="6">
                <c:v>1234567890ABCDEFGH (Canceled)</c:v>
              </c:pt>
              <c:pt idx="7">
                <c:v>A Celtic Lovestory</c:v>
              </c:pt>
              <c:pt idx="8">
                <c:v>"PG" Reanimated Cartoons Tha Movie</c:v>
              </c:pt>
              <c:pt idx="9">
                <c:v>Kitchen from Austria in Switzerland</c:v>
              </c:pt>
            </c:strLit>
          </c:cat>
          <c:val>
            <c:numLit>
              <c:formatCode>General</c:formatCode>
              <c:ptCount val="10"/>
              <c:pt idx="0">
                <c:v>32</c:v>
              </c:pt>
              <c:pt idx="1">
                <c:v>2</c:v>
              </c:pt>
              <c:pt idx="2">
                <c:v>2</c:v>
              </c:pt>
              <c:pt idx="3">
                <c:v>2</c:v>
              </c:pt>
              <c:pt idx="4">
                <c:v>2</c:v>
              </c:pt>
              <c:pt idx="5">
                <c:v>1</c:v>
              </c:pt>
              <c:pt idx="6">
                <c:v>1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F3EC-46B1-857D-F8FB0E8FAC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646398880"/>
        <c:axId val="1646400320"/>
      </c:barChart>
      <c:catAx>
        <c:axId val="164639888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400320"/>
        <c:crosses val="autoZero"/>
        <c:auto val="1"/>
        <c:lblAlgn val="ctr"/>
        <c:lblOffset val="100"/>
        <c:noMultiLvlLbl val="0"/>
        <c:extLst/>
      </c:catAx>
      <c:valAx>
        <c:axId val="164640032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398880"/>
        <c:crosses val="autoZero"/>
        <c:crossBetween val="between"/>
        <c:extLst/>
      </c:valAx>
      <c:spPr>
        <a:solidFill>
          <a:srgbClr val="C5A1BD"/>
        </a:solidFill>
        <a:ln w="15875">
          <a:solidFill>
            <a:schemeClr val="accent1">
              <a:shade val="15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rgbClr val="C5A1BD">
            <a:shade val="30000"/>
            <a:satMod val="115000"/>
          </a:srgbClr>
        </a:gs>
        <a:gs pos="50000">
          <a:srgbClr val="C5A1BD">
            <a:shade val="67500"/>
            <a:satMod val="115000"/>
          </a:srgbClr>
        </a:gs>
        <a:gs pos="100000">
          <a:srgbClr val="C5A1BD">
            <a:shade val="100000"/>
            <a:satMod val="115000"/>
          </a:srgbClr>
        </a:gs>
      </a:gsLst>
      <a:path path="circle">
        <a:fillToRect l="50000" t="50000" r="50000" b="50000"/>
      </a:path>
      <a:tileRect/>
    </a:gradFill>
    <a:ln w="19050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Successful Projects based on  Backers Count</a:t>
            </a:r>
          </a:p>
          <a:p>
            <a:pPr algn="ctr" rtl="0">
              <a:defRPr/>
            </a:pPr>
            <a:endParaRPr lang="en-US"/>
          </a:p>
        </c:rich>
      </c:tx>
      <c:overlay val="0"/>
      <c:spPr>
        <a:solidFill>
          <a:schemeClr val="bg1">
            <a:lumMod val="6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55134D"/>
          </a:solidFill>
          <a:ln>
            <a:noFill/>
          </a:ln>
          <a:effectLst/>
        </c:spPr>
      </c:pivotFmt>
      <c:pivotFmt>
        <c:idx val="7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5513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0"/>
              <c:pt idx="0">
                <c:v>Tabletop Games</c:v>
              </c:pt>
              <c:pt idx="1">
                <c:v>Product Design</c:v>
              </c:pt>
              <c:pt idx="2">
                <c:v>Video Games</c:v>
              </c:pt>
              <c:pt idx="3">
                <c:v>Documentary</c:v>
              </c:pt>
              <c:pt idx="4">
                <c:v>Gadgets</c:v>
              </c:pt>
              <c:pt idx="5">
                <c:v>Hardware</c:v>
              </c:pt>
              <c:pt idx="6">
                <c:v>Technology</c:v>
              </c:pt>
              <c:pt idx="7">
                <c:v>Music</c:v>
              </c:pt>
              <c:pt idx="8">
                <c:v>Food</c:v>
              </c:pt>
              <c:pt idx="9">
                <c:v>Design</c:v>
              </c:pt>
            </c:strLit>
          </c:cat>
          <c:val>
            <c:numLit>
              <c:formatCode>0.00%</c:formatCode>
              <c:ptCount val="10"/>
              <c:pt idx="0">
                <c:v>0.29685613820637768</c:v>
              </c:pt>
              <c:pt idx="1">
                <c:v>0.26385071493419104</c:v>
              </c:pt>
              <c:pt idx="2">
                <c:v>0.16871271896654327</c:v>
              </c:pt>
              <c:pt idx="3">
                <c:v>5.1497647831198735E-2</c:v>
              </c:pt>
              <c:pt idx="4">
                <c:v>4.2915696087263762E-2</c:v>
              </c:pt>
              <c:pt idx="5">
                <c:v>4.2772979362626522E-2</c:v>
              </c:pt>
              <c:pt idx="6">
                <c:v>4.2328739655557182E-2</c:v>
              </c:pt>
              <c:pt idx="7">
                <c:v>3.6685308412711115E-2</c:v>
              </c:pt>
              <c:pt idx="8">
                <c:v>2.7375479382875878E-2</c:v>
              </c:pt>
              <c:pt idx="9">
                <c:v>2.7004577160654793E-2</c:v>
              </c:pt>
            </c:numLit>
          </c:val>
          <c:extLst>
            <c:ext xmlns:c16="http://schemas.microsoft.com/office/drawing/2014/chart" uri="{C3380CC4-5D6E-409C-BE32-E72D297353CC}">
              <c16:uniqueId val="{00000000-33D8-4742-B0EB-20EF38815C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6398880"/>
        <c:axId val="1646400320"/>
      </c:barChart>
      <c:catAx>
        <c:axId val="164639888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400320"/>
        <c:crosses val="autoZero"/>
        <c:auto val="1"/>
        <c:lblAlgn val="ctr"/>
        <c:lblOffset val="100"/>
        <c:noMultiLvlLbl val="0"/>
        <c:extLst/>
      </c:catAx>
      <c:valAx>
        <c:axId val="1646400320"/>
        <c:scaling>
          <c:orientation val="minMax"/>
        </c:scaling>
        <c:delete val="0"/>
        <c:axPos val="l"/>
        <c:numFmt formatCode="0.0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398880"/>
        <c:crosses val="autoZero"/>
        <c:crossBetween val="between"/>
        <c:extLst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rgbClr val="C5A1BD">
            <a:shade val="30000"/>
            <a:satMod val="115000"/>
          </a:srgbClr>
        </a:gs>
        <a:gs pos="50000">
          <a:srgbClr val="C5A1BD">
            <a:shade val="67500"/>
            <a:satMod val="115000"/>
          </a:srgbClr>
        </a:gs>
        <a:gs pos="100000">
          <a:srgbClr val="C5A1BD">
            <a:shade val="100000"/>
            <a:satMod val="115000"/>
          </a:srgbClr>
        </a:gs>
      </a:gsLst>
      <a:path path="circle">
        <a:fillToRect l="50000" t="50000" r="50000" b="50000"/>
      </a:path>
      <a:tileRect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Successful Projects based on Amount Raised</a:t>
            </a:r>
          </a:p>
        </c:rich>
      </c:tx>
      <c:overlay val="0"/>
      <c:spPr>
        <a:solidFill>
          <a:schemeClr val="bg1">
            <a:lumMod val="6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55134D"/>
            </a:solidFill>
            <a:ln>
              <a:noFill/>
            </a:ln>
            <a:effectLst/>
          </c:spPr>
          <c:invertIfNegative val="0"/>
          <c:cat>
            <c:strLit>
              <c:ptCount val="10"/>
              <c:pt idx="0">
                <c:v>A Celtic Lovestory</c:v>
              </c:pt>
              <c:pt idx="1">
                <c:v>Hydroponic's Skyscraper(un gratte-ciel hydroponique)e-solar</c:v>
              </c:pt>
              <c:pt idx="2">
                <c:v>Kitchen from Austria in Switzerland</c:v>
              </c:pt>
              <c:pt idx="3">
                <c:v>Peace</c:v>
              </c:pt>
              <c:pt idx="4">
                <c:v>1234567890ABCDEFGH (Canceled)</c:v>
              </c:pt>
              <c:pt idx="5">
                <c:v>Help me start a fair media company, Trump Media</c:v>
              </c:pt>
              <c:pt idx="6">
                <c:v>Bring back Pontiac</c:v>
              </c:pt>
              <c:pt idx="7">
                <c:v>Animal - The Bear Life Journey</c:v>
              </c:pt>
              <c:pt idx="8">
                <c:v>"PG" Reanimated Cartoons Tha Movie</c:v>
              </c:pt>
              <c:pt idx="9">
                <c:v>Art Is Fabulous</c:v>
              </c:pt>
            </c:strLit>
          </c:cat>
          <c:val>
            <c:numLit>
              <c:formatCode>General</c:formatCode>
              <c:ptCount val="10"/>
              <c:pt idx="0">
                <c:v>152350076</c:v>
              </c:pt>
              <c:pt idx="1">
                <c:v>114612392</c:v>
              </c:pt>
              <c:pt idx="2">
                <c:v>102344508</c:v>
              </c:pt>
              <c:pt idx="3">
                <c:v>100002000</c:v>
              </c:pt>
              <c:pt idx="4">
                <c:v>100000000</c:v>
              </c:pt>
              <c:pt idx="5">
                <c:v>100000000</c:v>
              </c:pt>
              <c:pt idx="6">
                <c:v>100000000</c:v>
              </c:pt>
              <c:pt idx="7">
                <c:v>100000000</c:v>
              </c:pt>
              <c:pt idx="8">
                <c:v>100000000</c:v>
              </c:pt>
              <c:pt idx="9">
                <c:v>100000000</c:v>
              </c:pt>
            </c:numLit>
          </c:val>
          <c:extLst>
            <c:ext xmlns:c16="http://schemas.microsoft.com/office/drawing/2014/chart" uri="{C3380CC4-5D6E-409C-BE32-E72D297353CC}">
              <c16:uniqueId val="{00000000-8B05-4A1F-962F-EA5B7F25A7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6398880"/>
        <c:axId val="1646400320"/>
      </c:barChart>
      <c:catAx>
        <c:axId val="164639888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400320"/>
        <c:crosses val="autoZero"/>
        <c:auto val="1"/>
        <c:lblAlgn val="ctr"/>
        <c:lblOffset val="100"/>
        <c:noMultiLvlLbl val="0"/>
        <c:extLst/>
      </c:catAx>
      <c:valAx>
        <c:axId val="164640032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398880"/>
        <c:crosses val="autoZero"/>
        <c:crossBetween val="between"/>
        <c:extLst/>
      </c:valAx>
      <c:spPr>
        <a:solidFill>
          <a:srgbClr val="C5A1BD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rgbClr val="C5A1BD">
            <a:shade val="30000"/>
            <a:satMod val="115000"/>
          </a:srgbClr>
        </a:gs>
        <a:gs pos="50000">
          <a:srgbClr val="C5A1BD">
            <a:shade val="67500"/>
            <a:satMod val="115000"/>
          </a:srgbClr>
        </a:gs>
        <a:gs pos="100000">
          <a:srgbClr val="C5A1BD">
            <a:shade val="100000"/>
            <a:satMod val="115000"/>
          </a:srgbClr>
        </a:gs>
      </a:gsLst>
      <a:lin ang="10800000" scaled="1"/>
      <a:tileRect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911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awpixel.com/search/music%20background" TargetMode="External"/><Relationship Id="rId5" Type="http://schemas.openxmlformats.org/officeDocument/2006/relationships/image" Target="../media/image3.1"/><Relationship Id="rId4" Type="http://schemas.openxmlformats.org/officeDocument/2006/relationships/hyperlink" Target="https://www.publicdomainpictures.net/en/view-image.php?image=124670&amp;picture=purple-top-gradient-background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BD605533-60D8-2414-22E2-866387631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9391" y="2677886"/>
            <a:ext cx="9114609" cy="246561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8A17675-F3A8-2F2A-C62A-9EDCDAA7CC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9391" y="-19593"/>
            <a:ext cx="9085217" cy="120831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050107" y="276299"/>
            <a:ext cx="3558704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br>
              <a:rPr lang="en-US" sz="2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</a:br>
            <a:br>
              <a:rPr lang="en-US" sz="2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</a:br>
            <a:endParaRPr lang="en-US" sz="2800" dirty="0">
              <a:solidFill>
                <a:srgbClr val="FFFFFF"/>
              </a:solidFill>
              <a:latin typeface="Nunito SemiBold" pitchFamily="34" charset="0"/>
              <a:ea typeface="Nunito SemiBold" pitchFamily="34" charset="-122"/>
              <a:cs typeface="Nunito Semi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Crowdfunding Kickstarter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-104503" y="2062897"/>
            <a:ext cx="1404257" cy="30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34" y="3010990"/>
            <a:ext cx="8373291" cy="796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endParaRPr lang="en-US" sz="11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BB0BC7-E808-6D73-5B7A-5AABAFA95499}"/>
              </a:ext>
            </a:extLst>
          </p:cNvPr>
          <p:cNvSpPr txBox="1"/>
          <p:nvPr/>
        </p:nvSpPr>
        <p:spPr>
          <a:xfrm>
            <a:off x="3167744" y="2132510"/>
            <a:ext cx="4598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Analysis</a:t>
            </a:r>
            <a:endParaRPr lang="en-IN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16CCE6-F1B5-7A4A-EFF7-9139726970C9}"/>
              </a:ext>
            </a:extLst>
          </p:cNvPr>
          <p:cNvSpPr txBox="1"/>
          <p:nvPr/>
        </p:nvSpPr>
        <p:spPr>
          <a:xfrm>
            <a:off x="1391195" y="2884032"/>
            <a:ext cx="459812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Presenter</a:t>
            </a:r>
            <a:r>
              <a:rPr lang="en-US" sz="900" b="1" dirty="0">
                <a:solidFill>
                  <a:schemeClr val="bg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</a:t>
            </a:r>
            <a:r>
              <a:rPr lang="en-US" sz="900" dirty="0">
                <a:solidFill>
                  <a:schemeClr val="bg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IN" sz="1050" dirty="0">
                <a:solidFill>
                  <a:schemeClr val="bg1"/>
                </a:solidFill>
              </a:rPr>
              <a:t>Maaz Ahmed Risaldar</a:t>
            </a:r>
            <a:r>
              <a:rPr lang="en-US" sz="1050" dirty="0">
                <a:solidFill>
                  <a:schemeClr val="bg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endParaRPr lang="en-IN" sz="105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D9627A-484C-DC41-F492-694CE55CC877}"/>
              </a:ext>
            </a:extLst>
          </p:cNvPr>
          <p:cNvSpPr txBox="1"/>
          <p:nvPr/>
        </p:nvSpPr>
        <p:spPr>
          <a:xfrm>
            <a:off x="1391195" y="3197463"/>
            <a:ext cx="4598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Date:</a:t>
            </a:r>
            <a:r>
              <a:rPr lang="en-US" sz="900" dirty="0">
                <a:solidFill>
                  <a:schemeClr val="bg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IN" sz="900" dirty="0">
                <a:solidFill>
                  <a:schemeClr val="bg1"/>
                </a:solidFill>
              </a:rPr>
              <a:t>6 June 2026</a:t>
            </a:r>
          </a:p>
          <a:p>
            <a:endParaRPr lang="en-IN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3FAC79CB-D142-6F17-931D-4A72356A9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37160"/>
            <a:ext cx="7334520" cy="698863"/>
          </a:xfrm>
          <a:prstGeom prst="rect">
            <a:avLst/>
          </a:prstGeom>
        </p:spPr>
      </p:pic>
      <p:sp>
        <p:nvSpPr>
          <p:cNvPr id="2" name="Shape 2">
            <a:extLst>
              <a:ext uri="{FF2B5EF4-FFF2-40B4-BE49-F238E27FC236}">
                <a16:creationId xmlns:a16="http://schemas.microsoft.com/office/drawing/2014/main" id="{FC4DD50F-ACE6-247A-276A-031BC79DE9CE}"/>
              </a:ext>
            </a:extLst>
          </p:cNvPr>
          <p:cNvSpPr/>
          <p:nvPr/>
        </p:nvSpPr>
        <p:spPr>
          <a:xfrm>
            <a:off x="661324" y="1208314"/>
            <a:ext cx="1637739" cy="1136469"/>
          </a:xfrm>
          <a:prstGeom prst="roundRect">
            <a:avLst>
              <a:gd name="adj" fmla="val 783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r>
              <a:rPr lang="en-IN" sz="2000" b="1" dirty="0">
                <a:solidFill>
                  <a:schemeClr val="bg1"/>
                </a:solidFill>
              </a:rPr>
              <a:t>Anil Kumar Biswal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A6A57DBD-EFFA-87A7-BCC2-4F2C4F32D734}"/>
              </a:ext>
            </a:extLst>
          </p:cNvPr>
          <p:cNvSpPr/>
          <p:nvPr/>
        </p:nvSpPr>
        <p:spPr>
          <a:xfrm>
            <a:off x="2945674" y="1208314"/>
            <a:ext cx="1711235" cy="1136468"/>
          </a:xfrm>
          <a:prstGeom prst="roundRect">
            <a:avLst>
              <a:gd name="adj" fmla="val 783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r>
              <a:rPr lang="en-IN" sz="2400" b="1" dirty="0" err="1">
                <a:solidFill>
                  <a:schemeClr val="bg1"/>
                </a:solidFill>
              </a:rPr>
              <a:t>Anunidhi</a:t>
            </a:r>
            <a:r>
              <a:rPr lang="en-IN" sz="2400" b="1" dirty="0">
                <a:solidFill>
                  <a:schemeClr val="bg1"/>
                </a:solidFill>
              </a:rPr>
              <a:t> Sharma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F92199-107A-1939-1D84-05D784958ECD}"/>
              </a:ext>
            </a:extLst>
          </p:cNvPr>
          <p:cNvSpPr/>
          <p:nvPr/>
        </p:nvSpPr>
        <p:spPr>
          <a:xfrm>
            <a:off x="5303520" y="1208314"/>
            <a:ext cx="1711235" cy="1136469"/>
          </a:xfrm>
          <a:prstGeom prst="roundRect">
            <a:avLst>
              <a:gd name="adj" fmla="val 783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r>
              <a:rPr lang="en-IN" sz="2000" b="1" dirty="0" err="1">
                <a:solidFill>
                  <a:schemeClr val="bg1"/>
                </a:solidFill>
              </a:rPr>
              <a:t>Kondaparthi</a:t>
            </a:r>
            <a:r>
              <a:rPr lang="en-IN" sz="2000" b="1" dirty="0">
                <a:solidFill>
                  <a:schemeClr val="bg1"/>
                </a:solidFill>
              </a:rPr>
              <a:t> </a:t>
            </a:r>
            <a:r>
              <a:rPr lang="en-IN" sz="2000" b="1" dirty="0" err="1">
                <a:solidFill>
                  <a:schemeClr val="bg1"/>
                </a:solidFill>
              </a:rPr>
              <a:t>Kussulu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148156C-1421-2230-0329-1BE0C12F9B95}"/>
              </a:ext>
            </a:extLst>
          </p:cNvPr>
          <p:cNvSpPr/>
          <p:nvPr/>
        </p:nvSpPr>
        <p:spPr>
          <a:xfrm>
            <a:off x="609072" y="2880995"/>
            <a:ext cx="1533237" cy="796199"/>
          </a:xfrm>
          <a:prstGeom prst="roundRect">
            <a:avLst>
              <a:gd name="adj" fmla="val 783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r>
              <a:rPr lang="en-IN" sz="3200" b="1" dirty="0">
                <a:solidFill>
                  <a:schemeClr val="bg1"/>
                </a:solidFill>
              </a:rPr>
              <a:t>Arun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CB642A7-1D37-AC7B-391C-E293F1165E07}"/>
              </a:ext>
            </a:extLst>
          </p:cNvPr>
          <p:cNvSpPr/>
          <p:nvPr/>
        </p:nvSpPr>
        <p:spPr>
          <a:xfrm>
            <a:off x="2945674" y="2717073"/>
            <a:ext cx="1711235" cy="888275"/>
          </a:xfrm>
          <a:prstGeom prst="roundRect">
            <a:avLst>
              <a:gd name="adj" fmla="val 783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r>
              <a:rPr lang="en-IN" sz="2000" b="1" dirty="0">
                <a:solidFill>
                  <a:schemeClr val="bg1"/>
                </a:solidFill>
              </a:rPr>
              <a:t>Unmesha Milind </a:t>
            </a:r>
            <a:r>
              <a:rPr lang="en-IN" sz="2000" b="1" dirty="0" err="1">
                <a:solidFill>
                  <a:schemeClr val="bg1"/>
                </a:solidFill>
              </a:rPr>
              <a:t>Ghogle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4203A39-7957-434B-1DF5-BA6FBE8E9397}"/>
              </a:ext>
            </a:extLst>
          </p:cNvPr>
          <p:cNvSpPr/>
          <p:nvPr/>
        </p:nvSpPr>
        <p:spPr>
          <a:xfrm>
            <a:off x="5303520" y="2717074"/>
            <a:ext cx="1711235" cy="888275"/>
          </a:xfrm>
          <a:prstGeom prst="roundRect">
            <a:avLst>
              <a:gd name="adj" fmla="val 783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r>
              <a:rPr lang="en-IN" sz="2000" b="1" dirty="0">
                <a:solidFill>
                  <a:schemeClr val="bg1"/>
                </a:solidFill>
              </a:rPr>
              <a:t>Maaz Ahmed Risaldar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831C8-5F39-5308-5667-4840C1ECD29C}"/>
              </a:ext>
            </a:extLst>
          </p:cNvPr>
          <p:cNvSpPr txBox="1"/>
          <p:nvPr/>
        </p:nvSpPr>
        <p:spPr>
          <a:xfrm>
            <a:off x="738051" y="202474"/>
            <a:ext cx="6276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Project Team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88747C-D2AB-7995-05D9-26A5AFCAA826}"/>
              </a:ext>
            </a:extLst>
          </p:cNvPr>
          <p:cNvSpPr txBox="1"/>
          <p:nvPr/>
        </p:nvSpPr>
        <p:spPr>
          <a:xfrm>
            <a:off x="4154126" y="521704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900" dirty="0">
                <a:solidFill>
                  <a:schemeClr val="bg1"/>
                </a:solidFill>
              </a:rPr>
              <a:t>Our contributors bring collaboration, insight, and analysis together.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05FF50-83E8-05A1-401A-F135F2133041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48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9835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Objectives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817712"/>
            <a:ext cx="1950616" cy="1002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1978521"/>
            <a:ext cx="155279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Analyze crowdfunding project outcomes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393" y="1817712"/>
            <a:ext cx="1950690" cy="10020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87402" y="1978521"/>
            <a:ext cx="15528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 successful project categories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792" y="1817712"/>
            <a:ext cx="1950690" cy="10020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60801" y="1978521"/>
            <a:ext cx="15528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Evaluate the impact of funding goals on success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97191" y="1817712"/>
            <a:ext cx="1950690" cy="10020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934200" y="1978521"/>
            <a:ext cx="155287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Understand the geographical distribution of projects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961531"/>
            <a:ext cx="1950616" cy="10020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14077" y="3122340"/>
            <a:ext cx="155279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Measure backer engagement and funding performance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8D5F56-8AA4-7F0B-880D-492AD7B57102}"/>
              </a:ext>
            </a:extLst>
          </p:cNvPr>
          <p:cNvSpPr/>
          <p:nvPr/>
        </p:nvSpPr>
        <p:spPr>
          <a:xfrm>
            <a:off x="8022077" y="4792494"/>
            <a:ext cx="1070042" cy="2918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1706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Tools &amp; Technologies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86042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Analysis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223641"/>
            <a:ext cx="29155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Microsoft Excel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05101" y="186042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05101" y="2223641"/>
            <a:ext cx="24583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Cleaning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Transformation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Pivot Tables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Slicers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14083" y="186042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14083" y="2223641"/>
            <a:ext cx="2543249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Excel Dashboard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Pie Charts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Bar Charts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KPI Cards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Interactive Filters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376497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Techniques Applied:</a:t>
            </a: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Exploratory Data Analysis (EDA), Descriptive Analytics, Data Aggregation, KPI Tracking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5D7C24-7609-0CFF-388B-B836252AD019}"/>
              </a:ext>
            </a:extLst>
          </p:cNvPr>
          <p:cNvSpPr/>
          <p:nvPr/>
        </p:nvSpPr>
        <p:spPr>
          <a:xfrm>
            <a:off x="7970196" y="4727643"/>
            <a:ext cx="1134886" cy="363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67991" y="419250"/>
            <a:ext cx="2187327" cy="66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Cleaning Process</a:t>
            </a:r>
            <a:endParaRPr lang="en-US" dirty="0"/>
          </a:p>
        </p:txBody>
      </p:sp>
      <p:sp>
        <p:nvSpPr>
          <p:cNvPr id="16" name="Text 1"/>
          <p:cNvSpPr/>
          <p:nvPr/>
        </p:nvSpPr>
        <p:spPr>
          <a:xfrm>
            <a:off x="1439392" y="1025435"/>
            <a:ext cx="467786" cy="408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Shape 2"/>
          <p:cNvSpPr/>
          <p:nvPr/>
        </p:nvSpPr>
        <p:spPr>
          <a:xfrm flipV="1">
            <a:off x="1372954" y="1519623"/>
            <a:ext cx="2879006" cy="61466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8" name="Text 3"/>
          <p:cNvSpPr/>
          <p:nvPr/>
        </p:nvSpPr>
        <p:spPr>
          <a:xfrm>
            <a:off x="1439391" y="1802130"/>
            <a:ext cx="2812569" cy="769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Removed duplicate records, handled missing/null values, and standardized category names.</a:t>
            </a:r>
            <a:endParaRPr lang="en-US" sz="1400" dirty="0"/>
          </a:p>
        </p:txBody>
      </p:sp>
      <p:sp>
        <p:nvSpPr>
          <p:cNvPr id="19" name="Text 4"/>
          <p:cNvSpPr/>
          <p:nvPr/>
        </p:nvSpPr>
        <p:spPr>
          <a:xfrm>
            <a:off x="5204352" y="1328776"/>
            <a:ext cx="168325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Shape 5"/>
          <p:cNvSpPr/>
          <p:nvPr/>
        </p:nvSpPr>
        <p:spPr>
          <a:xfrm flipV="1">
            <a:off x="4727558" y="1527496"/>
            <a:ext cx="2879080" cy="45719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21" name="Text 6"/>
          <p:cNvSpPr/>
          <p:nvPr/>
        </p:nvSpPr>
        <p:spPr>
          <a:xfrm>
            <a:off x="4825529" y="1789327"/>
            <a:ext cx="287908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Corrected inconsistent country codes, formatted date fields properly, and removed unnecessary columns.</a:t>
            </a:r>
            <a:endParaRPr lang="en-US" sz="1400" dirty="0"/>
          </a:p>
        </p:txBody>
      </p:sp>
      <p:sp>
        <p:nvSpPr>
          <p:cNvPr id="22" name="Text 7"/>
          <p:cNvSpPr/>
          <p:nvPr/>
        </p:nvSpPr>
        <p:spPr>
          <a:xfrm>
            <a:off x="1667991" y="4422428"/>
            <a:ext cx="168325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50" dirty="0"/>
          </a:p>
        </p:txBody>
      </p:sp>
      <p:sp>
        <p:nvSpPr>
          <p:cNvPr id="23" name="Shape 8"/>
          <p:cNvSpPr/>
          <p:nvPr/>
        </p:nvSpPr>
        <p:spPr>
          <a:xfrm flipV="1">
            <a:off x="1372954" y="2747648"/>
            <a:ext cx="2879006" cy="61465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24" name="Text 9"/>
          <p:cNvSpPr/>
          <p:nvPr/>
        </p:nvSpPr>
        <p:spPr>
          <a:xfrm>
            <a:off x="1372954" y="3030154"/>
            <a:ext cx="3174043" cy="53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Validated project outcome values and</a:t>
            </a:r>
            <a:b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</a:br>
            <a: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created Year, </a:t>
            </a:r>
            <a:b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</a:br>
            <a: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 and Quarter fields.</a:t>
            </a:r>
            <a:endParaRPr lang="en-US" sz="1400" dirty="0"/>
          </a:p>
        </p:txBody>
      </p:sp>
      <p:sp>
        <p:nvSpPr>
          <p:cNvPr id="25" name="Text 10"/>
          <p:cNvSpPr/>
          <p:nvPr/>
        </p:nvSpPr>
        <p:spPr>
          <a:xfrm>
            <a:off x="4903907" y="2413087"/>
            <a:ext cx="168325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br>
              <a:rPr lang="en-US" sz="1000" dirty="0">
                <a:solidFill>
                  <a:srgbClr val="CFD0D8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</a:br>
            <a:r>
              <a:rPr lang="en-US" sz="1000" dirty="0">
                <a:solidFill>
                  <a:srgbClr val="CFD0D8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Shape 11"/>
          <p:cNvSpPr/>
          <p:nvPr/>
        </p:nvSpPr>
        <p:spPr>
          <a:xfrm>
            <a:off x="4825529" y="2620504"/>
            <a:ext cx="2879080" cy="45719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27" name="Text 12"/>
          <p:cNvSpPr/>
          <p:nvPr/>
        </p:nvSpPr>
        <p:spPr>
          <a:xfrm>
            <a:off x="4825529" y="2726183"/>
            <a:ext cx="287908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Grouped funding goals into ranges and categorized outcomes as Successful, Failed, Canceled, Live, Suspended, and Purged.</a:t>
            </a:r>
            <a:endParaRPr 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0FFD86-DFC5-76F4-D2E2-E08735CE8449}"/>
              </a:ext>
            </a:extLst>
          </p:cNvPr>
          <p:cNvSpPr txBox="1"/>
          <p:nvPr/>
        </p:nvSpPr>
        <p:spPr>
          <a:xfrm>
            <a:off x="1439392" y="2465661"/>
            <a:ext cx="4677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9F37DF-8630-D876-48F6-A5470970FF26}"/>
              </a:ext>
            </a:extLst>
          </p:cNvPr>
          <p:cNvSpPr/>
          <p:nvPr/>
        </p:nvSpPr>
        <p:spPr>
          <a:xfrm>
            <a:off x="7807605" y="4681876"/>
            <a:ext cx="1271081" cy="4093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3389"/>
            <a:ext cx="398978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Performance Indicators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272108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$133,864,213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19170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Total Amount Raised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272108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3,996,583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768206" y="19170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Total Backers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492871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80.43 Days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993874" y="3137818"/>
            <a:ext cx="299166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Average Days for Successful Projects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0553" y="2492871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39%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5768206" y="31378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Success Rate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713634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51%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1603697" y="43585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Failure Rate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0553" y="3713634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9%</a:t>
            </a:r>
            <a:endParaRPr lang="en-US" sz="3650" dirty="0"/>
          </a:p>
        </p:txBody>
      </p:sp>
      <p:sp>
        <p:nvSpPr>
          <p:cNvPr id="14" name="Text 12"/>
          <p:cNvSpPr/>
          <p:nvPr/>
        </p:nvSpPr>
        <p:spPr>
          <a:xfrm>
            <a:off x="5768206" y="43585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Cancellation Rate</a:t>
            </a:r>
            <a:endParaRPr lang="en-US" sz="13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41E2E2-2BA4-19DE-DA13-9436FA587885}"/>
              </a:ext>
            </a:extLst>
          </p:cNvPr>
          <p:cNvSpPr/>
          <p:nvPr/>
        </p:nvSpPr>
        <p:spPr>
          <a:xfrm>
            <a:off x="7937770" y="4779523"/>
            <a:ext cx="1128409" cy="3177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47889-400D-913E-8EE6-36F1E9C3CE5C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194890"/>
            <a:ext cx="4890939" cy="48909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26531" y="5138961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2126531" y="5404693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Project Outcomes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2126531" y="5550843"/>
            <a:ext cx="235900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More than half of all projects failed (51%). Only 39% achieved successful funding, while canceled projects account for approximately 9%.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3232" y="5404693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Country Analysis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5550843"/>
            <a:ext cx="235900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United States dominates Kickstarter activity. The United Kingdom is the second-largest contributor, followed by Canada, Australia, and Germany.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2126531" y="5828035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Category Analysis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2126531" y="5974184"/>
            <a:ext cx="235900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categories by number of projects are Product Design, Tabletop Games, Music, Documentary, and Video Games.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4663232" y="5828035"/>
            <a:ext cx="136244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Funding Goal Analysis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663232" y="5974184"/>
            <a:ext cx="2359000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Lower funding goals show higher success rates. The $501–$20,000 range contributes significantly to successful campaigns, while extremely high goals perform less well.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8437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Dashboard Features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77715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Interactive Filters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40372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Year Filter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 Filter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Quarter Filter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Outcome Filter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77715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Visualizations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140372"/>
            <a:ext cx="3902943" cy="1885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Project Outcome Distribution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Projects by Country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Projects by Category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Goal Range Success Analysis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Projects by Backers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Projects by Amount Raised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KPI Summary Cards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8D5C4A-18EF-0C54-FD85-FEE35BCA7A28}"/>
              </a:ext>
            </a:extLst>
          </p:cNvPr>
          <p:cNvSpPr/>
          <p:nvPr/>
        </p:nvSpPr>
        <p:spPr>
          <a:xfrm>
            <a:off x="7937770" y="4747098"/>
            <a:ext cx="1147864" cy="3372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5A1E681-3469-C8AA-358F-EE707B25AD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7685" y="95024"/>
            <a:ext cx="3783704" cy="50103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E6600A-B1EB-B2EC-B71A-A7AA1DDF2B16}"/>
              </a:ext>
            </a:extLst>
          </p:cNvPr>
          <p:cNvSpPr/>
          <p:nvPr/>
        </p:nvSpPr>
        <p:spPr>
          <a:xfrm>
            <a:off x="8028561" y="4792494"/>
            <a:ext cx="1063187" cy="2788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17E3306-E8D2-4B4E-E8B7-F1874A30C1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0806695"/>
              </p:ext>
            </p:extLst>
          </p:nvPr>
        </p:nvGraphicFramePr>
        <p:xfrm>
          <a:off x="1195252" y="805295"/>
          <a:ext cx="6413862" cy="3532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1B90ADA-ED16-3464-853B-5F8850197817}"/>
              </a:ext>
            </a:extLst>
          </p:cNvPr>
          <p:cNvSpPr txBox="1"/>
          <p:nvPr/>
        </p:nvSpPr>
        <p:spPr>
          <a:xfrm>
            <a:off x="2664823" y="195943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Key Insight and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352012-424A-1474-E084-B181538BC5DF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370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A29AC64-E971-2AE0-86D3-BEE2FDFEBC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9962991"/>
              </p:ext>
            </p:extLst>
          </p:nvPr>
        </p:nvGraphicFramePr>
        <p:xfrm>
          <a:off x="2195946" y="653589"/>
          <a:ext cx="4752108" cy="3836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DBB574-C681-C281-ECB7-D791EEAFC9F4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666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527E8D8-F14E-FA04-6353-C3F8122D44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4481252"/>
              </p:ext>
            </p:extLst>
          </p:nvPr>
        </p:nvGraphicFramePr>
        <p:xfrm>
          <a:off x="2292927" y="628749"/>
          <a:ext cx="4558146" cy="38860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9166CFD-EBB1-97F1-400B-7E0E36070F8B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545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9779D81-AD28-646D-9599-8A3DA25F45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790426"/>
              </p:ext>
            </p:extLst>
          </p:nvPr>
        </p:nvGraphicFramePr>
        <p:xfrm>
          <a:off x="2288617" y="222069"/>
          <a:ext cx="4566765" cy="4968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08D49DA-9BE7-6BEE-1C93-A995D989820D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306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57C95EF-59C6-4CEE-B31F-F1F23726D5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7998777"/>
              </p:ext>
            </p:extLst>
          </p:nvPr>
        </p:nvGraphicFramePr>
        <p:xfrm>
          <a:off x="2138974" y="507424"/>
          <a:ext cx="4866052" cy="41286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B603298-7545-6964-4EB0-710690C8E574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071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B93BCEC-3E1F-4650-8BA8-CB0185A9ED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1171898"/>
              </p:ext>
            </p:extLst>
          </p:nvPr>
        </p:nvGraphicFramePr>
        <p:xfrm>
          <a:off x="2143830" y="805186"/>
          <a:ext cx="4856339" cy="3533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7EAD2BF-43AB-413C-6D3A-641F6179BD0D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545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A33F9B9-7DA3-90B5-3899-05E2D25A5A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6980408"/>
              </p:ext>
            </p:extLst>
          </p:nvPr>
        </p:nvGraphicFramePr>
        <p:xfrm>
          <a:off x="986247" y="802241"/>
          <a:ext cx="7478484" cy="3978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C081BA3-C6EF-F1D2-ED7A-5C4326E4759D}"/>
              </a:ext>
            </a:extLst>
          </p:cNvPr>
          <p:cNvSpPr/>
          <p:nvPr/>
        </p:nvSpPr>
        <p:spPr>
          <a:xfrm>
            <a:off x="8041532" y="4831405"/>
            <a:ext cx="1057072" cy="2334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657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F324F2FA-1DEE-4114-DAE8-C75A0CB77C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9897" y="137161"/>
            <a:ext cx="6864531" cy="5029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06CDFF-BCEB-FAF6-6FC3-980E487B74EB}"/>
              </a:ext>
            </a:extLst>
          </p:cNvPr>
          <p:cNvSpPr txBox="1"/>
          <p:nvPr/>
        </p:nvSpPr>
        <p:spPr>
          <a:xfrm>
            <a:off x="901338" y="137161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   Dashboards - </a:t>
            </a:r>
            <a:r>
              <a:rPr lang="en-IN" sz="2800" dirty="0">
                <a:solidFill>
                  <a:schemeClr val="bg1"/>
                </a:solidFill>
              </a:rPr>
              <a:t>Excel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06ADD5-6316-0371-F7F7-39C241737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" y="828555"/>
            <a:ext cx="8948057" cy="437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428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1CF16C5D-6CE8-0BB7-B408-8D781C385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9897" y="19124"/>
            <a:ext cx="6864531" cy="2961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54E8A3-5159-1DAB-85B3-DDEF9C17A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"/>
            <a:ext cx="9144000" cy="47586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7E6FD4-43D4-194A-407B-0E0784CC14B2}"/>
              </a:ext>
            </a:extLst>
          </p:cNvPr>
          <p:cNvSpPr txBox="1"/>
          <p:nvPr/>
        </p:nvSpPr>
        <p:spPr>
          <a:xfrm>
            <a:off x="3409406" y="-5403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Tableau </a:t>
            </a:r>
          </a:p>
        </p:txBody>
      </p:sp>
    </p:spTree>
    <p:extLst>
      <p:ext uri="{BB962C8B-B14F-4D97-AF65-F5344CB8AC3E}">
        <p14:creationId xmlns:p14="http://schemas.microsoft.com/office/powerpoint/2010/main" val="2464138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4941D066-7C53-5445-578C-787A0A9283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9897" y="1"/>
            <a:ext cx="6864531" cy="3445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6CC7BE-2A81-DBB6-5EEA-AAFF1EAA5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39" y="352696"/>
            <a:ext cx="8894922" cy="47908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74F1A0-550C-6602-BEB5-F3D18B6E8EB9}"/>
              </a:ext>
            </a:extLst>
          </p:cNvPr>
          <p:cNvSpPr txBox="1"/>
          <p:nvPr/>
        </p:nvSpPr>
        <p:spPr>
          <a:xfrm>
            <a:off x="3566160" y="-248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266709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20838" y="346167"/>
            <a:ext cx="2157040" cy="22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Challenges</a:t>
            </a: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&amp; Solutions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226715" y="705394"/>
            <a:ext cx="5592096" cy="4343400"/>
          </a:xfrm>
          <a:prstGeom prst="roundRect">
            <a:avLst>
              <a:gd name="adj" fmla="val 98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79491" y="3912319"/>
            <a:ext cx="3316412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379491" y="4750966"/>
            <a:ext cx="3316412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74FE63C-E442-69E7-1365-A1E0F4032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007414"/>
              </p:ext>
            </p:extLst>
          </p:nvPr>
        </p:nvGraphicFramePr>
        <p:xfrm>
          <a:off x="1737360" y="705394"/>
          <a:ext cx="4892040" cy="4206240"/>
        </p:xfrm>
        <a:graphic>
          <a:graphicData uri="http://schemas.openxmlformats.org/drawingml/2006/table">
            <a:tbl>
              <a:tblPr/>
              <a:tblGrid>
                <a:gridCol w="2446020">
                  <a:extLst>
                    <a:ext uri="{9D8B030D-6E8A-4147-A177-3AD203B41FA5}">
                      <a16:colId xmlns:a16="http://schemas.microsoft.com/office/drawing/2014/main" val="4193174771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89491839"/>
                    </a:ext>
                  </a:extLst>
                </a:gridCol>
              </a:tblGrid>
              <a:tr h="355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Challenge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Solution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973274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Missing values in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Cleaned and standardized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341556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Large number of categories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Grouped and summarized categories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490043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Inconsistent date formats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Converted into standard date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046924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Complex project outcomes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Created meaningful outcome groups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919472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Large dataset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Used Pivot Tables and interactive slicers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811606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User navigation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Added dashboard filters and clear KPI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19737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9CE00857-0BF4-A9EF-8DA4-60A87785CE11}"/>
              </a:ext>
            </a:extLst>
          </p:cNvPr>
          <p:cNvSpPr/>
          <p:nvPr/>
        </p:nvSpPr>
        <p:spPr>
          <a:xfrm>
            <a:off x="7987937" y="4731603"/>
            <a:ext cx="1104182" cy="36006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82998"/>
            <a:ext cx="4074542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219171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For Project Creators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554932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Set realistic funding goals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Focus on categories with proven success rates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Increase community engagement before launch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strong marketing campaigns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19171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For Investors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554932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Prioritize categories with historically higher success rates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Evaluate backer engagement alongside funding goals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 trends by country and category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1454C4-DB48-3AD0-5738-767501DD5273}"/>
              </a:ext>
            </a:extLst>
          </p:cNvPr>
          <p:cNvSpPr/>
          <p:nvPr/>
        </p:nvSpPr>
        <p:spPr>
          <a:xfrm>
            <a:off x="7987937" y="4708650"/>
            <a:ext cx="1091212" cy="38910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82B2A7C8-E2EA-212E-B308-C1FAAEBFBC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976" y="124097"/>
            <a:ext cx="8630733" cy="627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26531" y="3752106"/>
            <a:ext cx="4890939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140976" y="4187041"/>
            <a:ext cx="4890939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endParaRPr lang="en-US" sz="5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5FBDC7-DB90-01FD-0D52-0B8D8A3D4461}"/>
              </a:ext>
            </a:extLst>
          </p:cNvPr>
          <p:cNvSpPr txBox="1"/>
          <p:nvPr/>
        </p:nvSpPr>
        <p:spPr>
          <a:xfrm>
            <a:off x="287383" y="209848"/>
            <a:ext cx="6250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solidFill>
                  <a:schemeClr val="bg1"/>
                </a:solidFill>
              </a:rPr>
              <a:t>    Conclusion &amp; Future Scope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347C39-CB00-E496-A7FB-D77D5C92B854}"/>
              </a:ext>
            </a:extLst>
          </p:cNvPr>
          <p:cNvSpPr txBox="1"/>
          <p:nvPr/>
        </p:nvSpPr>
        <p:spPr>
          <a:xfrm>
            <a:off x="692331" y="836865"/>
            <a:ext cx="8014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>
                <a:solidFill>
                  <a:schemeClr val="bg1"/>
                </a:solidFill>
              </a:rPr>
              <a:t>The analysis shows that project category, funding goal, and backer engagement significantly influence campaign success. Interactive visualizations help users identify patterns and make data-driven decisions.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836C28-8133-EA90-C312-E2E3F1BB4C40}"/>
              </a:ext>
            </a:extLst>
          </p:cNvPr>
          <p:cNvSpPr txBox="1"/>
          <p:nvPr/>
        </p:nvSpPr>
        <p:spPr>
          <a:xfrm>
            <a:off x="692332" y="1419221"/>
            <a:ext cx="46960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Future Enhancements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Build dashboard in Power BI/Tableau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Add predictive analytics for success probability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Implement machine learning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Perform sentiment analysis on project descriptions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Create real-time crowdfunding monitoring</a:t>
            </a:r>
          </a:p>
        </p:txBody>
      </p:sp>
      <p:sp>
        <p:nvSpPr>
          <p:cNvPr id="30" name="Text 1"/>
          <p:cNvSpPr/>
          <p:nvPr/>
        </p:nvSpPr>
        <p:spPr>
          <a:xfrm>
            <a:off x="875211" y="2897200"/>
            <a:ext cx="4757596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* Develop automated reporting and alerts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D4694B-9816-7E25-BCA7-A3265073D7CC}"/>
              </a:ext>
            </a:extLst>
          </p:cNvPr>
          <p:cNvSpPr txBox="1"/>
          <p:nvPr/>
        </p:nvSpPr>
        <p:spPr>
          <a:xfrm>
            <a:off x="627017" y="3178883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Advanced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Success prediction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Backer </a:t>
            </a:r>
            <a:r>
              <a:rPr lang="en-IN" dirty="0" err="1">
                <a:solidFill>
                  <a:schemeClr val="bg1"/>
                </a:solidFill>
              </a:rPr>
              <a:t>behavior</a:t>
            </a:r>
            <a:r>
              <a:rPr lang="en-IN" dirty="0">
                <a:solidFill>
                  <a:schemeClr val="bg1"/>
                </a:solidFill>
              </a:rPr>
              <a:t>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Funding trend forecasting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Country-wise market opportunity analysis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C2B71E-6BA8-7174-1ABF-D3A804DC1820}"/>
              </a:ext>
            </a:extLst>
          </p:cNvPr>
          <p:cNvSpPr/>
          <p:nvPr/>
        </p:nvSpPr>
        <p:spPr>
          <a:xfrm>
            <a:off x="7840401" y="4656211"/>
            <a:ext cx="1290536" cy="4086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A8BBE7-4FC3-EED6-3527-EE65E90486D6}"/>
              </a:ext>
            </a:extLst>
          </p:cNvPr>
          <p:cNvSpPr txBox="1"/>
          <p:nvPr/>
        </p:nvSpPr>
        <p:spPr>
          <a:xfrm>
            <a:off x="2286000" y="2388717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THANK YOU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E7B5AB-90C3-0123-D0ED-FF6D83C0B071}"/>
              </a:ext>
            </a:extLst>
          </p:cNvPr>
          <p:cNvSpPr/>
          <p:nvPr/>
        </p:nvSpPr>
        <p:spPr>
          <a:xfrm>
            <a:off x="7996136" y="4766553"/>
            <a:ext cx="1057073" cy="304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270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96</TotalTime>
  <Words>629</Words>
  <Application>Microsoft Office PowerPoint</Application>
  <PresentationFormat>On-screen Show (16:9)</PresentationFormat>
  <Paragraphs>141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Times New Roman</vt:lpstr>
      <vt:lpstr>PT Sans</vt:lpstr>
      <vt:lpstr>Merriweather</vt:lpstr>
      <vt:lpstr>Arial</vt:lpstr>
      <vt:lpstr>Nunito Light</vt:lpstr>
      <vt:lpstr>Nunito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Akshay Ghogale</dc:creator>
  <cp:lastModifiedBy>Akshay Ghogale</cp:lastModifiedBy>
  <cp:revision>6</cp:revision>
  <dcterms:created xsi:type="dcterms:W3CDTF">2026-06-06T09:40:15Z</dcterms:created>
  <dcterms:modified xsi:type="dcterms:W3CDTF">2026-06-06T11:17:13Z</dcterms:modified>
</cp:coreProperties>
</file>